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Merriweather"/>
      <p:regular r:id="rId13"/>
      <p:bold r:id="rId14"/>
      <p:italic r:id="rId15"/>
      <p:boldItalic r:id="rId16"/>
    </p:embeddedFont>
    <p:embeddedFont>
      <p:font typeface="DM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italic.fntdata"/><Relationship Id="rId14" Type="http://schemas.openxmlformats.org/officeDocument/2006/relationships/font" Target="fonts/Merriweather-bold.fntdata"/><Relationship Id="rId17" Type="http://schemas.openxmlformats.org/officeDocument/2006/relationships/font" Target="fonts/DMSans-regular.fntdata"/><Relationship Id="rId16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890712"/>
            <a:ext cx="1160145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Methodology: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A Dual-Mode Autonomous Weeder Robot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595812"/>
            <a:ext cx="8572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Adithya Pothula, Siddanth Bhogoju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6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6412"/>
            <a:ext cx="5286375" cy="416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76412"/>
            <a:ext cx="5286375" cy="41624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2166937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94A00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271938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Precision agriculture demands intelligent tools to manage farm resources efficiently. Weeding, a critical task, remains a major bottleneck.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662362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This research focuses on developing an autonomous robotic system to differentiate crops from weeds and perform targeted removal, addressing the limitations of current methods.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2166937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94A00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Problem Statement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271938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1. Labor Intensive: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Manual weeding is slow, physically demanding, and increasingly expensive due to labor shortages.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24650" y="3662362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2. Inefficient: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Broad-area chemical spraying is non-selective, costly, and leads to herbicide resistance and environmental damage.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24650" y="4605337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3. Technology Gap: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No single, high-speed platform effectively integrates both mechanical (physical) and chemical (spot-spray) weed removal methods.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A4E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 &amp; Problem Statement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6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3112"/>
            <a:ext cx="3429000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043112"/>
            <a:ext cx="3429000" cy="362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043112"/>
            <a:ext cx="3429000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370885" y="3052762"/>
            <a:ext cx="183022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A4E"/>
                </a:solidFill>
                <a:latin typeface="Merriweather"/>
                <a:ea typeface="Merriweather"/>
                <a:cs typeface="Merriweather"/>
                <a:sym typeface="Merriweather"/>
              </a:rPr>
              <a:t>Weed Detection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66775" y="3662362"/>
            <a:ext cx="28384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field has shifted from simple color and shape analysis to robust Deep Learning models (CNNs, YOLO). These provide real-time, all-weather detection, even with occlusions.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960858" y="3052762"/>
            <a:ext cx="22702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A4E"/>
                </a:solidFill>
                <a:latin typeface="Merriweather"/>
                <a:ea typeface="Merriweather"/>
                <a:cs typeface="Merriweather"/>
                <a:sym typeface="Merriweather"/>
              </a:rPr>
              <a:t>Navigation (SLAM)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76775" y="3662362"/>
            <a:ext cx="28384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Cartographer and other sensor-fusion SLAM (LiDAR + IMU) are proven superior for the semi-structured and uneven terrain of farms, enabling accurate localization.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610838" y="3052762"/>
            <a:ext cx="259032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A4E"/>
                </a:solidFill>
                <a:latin typeface="Merriweather"/>
                <a:ea typeface="Merriweather"/>
                <a:cs typeface="Merriweather"/>
                <a:sym typeface="Merriweather"/>
              </a:rPr>
              <a:t>Removal Mechanisms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86775" y="3662362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 clear gap exists. Mechanical methods are eco-friendly but risk crop damage. Precision chemical spraying is fast but risks drift. A hybrid approach is needed.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8825" y="235743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8825" y="235743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3574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A4E"/>
                </a:solidFill>
                <a:latin typeface="Merriweather"/>
                <a:ea typeface="Merriweather"/>
                <a:cs typeface="Merriweather"/>
                <a:sym typeface="Merriweather"/>
              </a:rPr>
              <a:t>Literature Review: Key Findings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6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26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195262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2A4E"/>
                </a:solidFill>
                <a:latin typeface="Merriweather"/>
                <a:ea typeface="Merriweather"/>
                <a:cs typeface="Merriweather"/>
                <a:sym typeface="Merriweather"/>
              </a:rPr>
              <a:t>Our Solution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250507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We propose a 3-DoF Delta Robot AMR that intelligently combines two removal methods in one system: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52475" y="31908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09625" y="319087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High-Speed Platform: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 3-DoF Delta parallel manipulator provides rapid, precise positioning over the target area.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52475" y="38481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09625" y="3848100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Dual-Mode End-Effector: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 single, compact toolhead integrates a servo-electric gripper (for mechanical removal) and a micro-spray nozzle (for targeted chemical application).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52475" y="47625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09625" y="4762500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Unified Control Stack: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The system is managed by ROS2, using MoveIt2 for motion planning and YOLOv8 for real-time perception.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621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A4E"/>
                </a:solidFill>
                <a:latin typeface="Merriweather"/>
                <a:ea typeface="Merriweather"/>
                <a:cs typeface="Merriweather"/>
                <a:sym typeface="Merriweather"/>
              </a:rPr>
              <a:t>Proposed Solution: A Dual-Mode AMR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6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571500" y="3838575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507968" y="4095750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94A00"/>
                </a:solidFill>
                <a:latin typeface="Merriweather"/>
                <a:ea typeface="Merriweather"/>
                <a:cs typeface="Merriweather"/>
                <a:sym typeface="Merriweather"/>
              </a:rPr>
              <a:t>1. Perception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4533900"/>
            <a:ext cx="254124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On-board camera captures images. A trained YOLOv8n model processes the feed to detect and classify weed bounding boxes in real-time.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3343888" y="1724025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94A00"/>
                </a:solidFill>
                <a:latin typeface="Merriweather"/>
                <a:ea typeface="Merriweather"/>
                <a:cs typeface="Merriweather"/>
                <a:sym typeface="Merriweather"/>
              </a:rPr>
              <a:t>2. Localization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3407419" y="2162175"/>
            <a:ext cx="254124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2D weed detection is fused with 3D LiDAR data. Using ROS2 tf2 transforms, the system estimates the precise 3D position of the target weed.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179808" y="4095750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94A00"/>
                </a:solidFill>
                <a:latin typeface="Merriweather"/>
                <a:ea typeface="Merriweather"/>
                <a:cs typeface="Merriweather"/>
                <a:sym typeface="Merriweather"/>
              </a:rPr>
              <a:t>3. Planning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243339" y="4533900"/>
            <a:ext cx="254124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MoveIt2 motion planner computes a collision-free trajectory. As the arm approaches, MoveIt Servo provides real-time visual servoing for fine-tuning.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015728" y="1466850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94A00"/>
                </a:solidFill>
                <a:latin typeface="Merriweather"/>
                <a:ea typeface="Merriweather"/>
                <a:cs typeface="Merriweather"/>
                <a:sym typeface="Merriweather"/>
              </a:rPr>
              <a:t>4. Execution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079259" y="1905000"/>
            <a:ext cx="254124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controller manager activates the appropriate tool (gripper or nozzle). Model Predictive Control (MPC) compensates for actuator and fluidic delays.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1746870" y="37623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DFBF6"/>
          </a:solidFill>
          <a:ln cap="flat" cmpd="sng" w="38100">
            <a:solidFill>
              <a:srgbClr val="B94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4582790" y="37623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DFBF6"/>
          </a:solidFill>
          <a:ln cap="flat" cmpd="sng" w="38100">
            <a:solidFill>
              <a:srgbClr val="B94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418709" y="37623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DFBF6"/>
          </a:solidFill>
          <a:ln cap="flat" cmpd="sng" w="38100">
            <a:solidFill>
              <a:srgbClr val="B94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10254629" y="37623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DFBF6"/>
          </a:solidFill>
          <a:ln cap="flat" cmpd="sng" w="38100">
            <a:solidFill>
              <a:srgbClr val="B94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A4E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Methodology &amp; Workflow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6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295275" y="2386012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2A4E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355758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Thank you for your attention.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4252912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2A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Adithya Pothula | Siddanth Bhogoju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6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571500" y="39385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337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1666875" y="314801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https://rbtx.it/_next/image?url=https%3A%2F%2Fimages.cdn.europe-west1.gcp.commercetools.com%2Fe6e8fb78-82fb-4fc9-8ac7-7ac06b850514%2FLCA_PROD_XXL_delta_r-7gWEtXnp.png&amp;w=3840&amp;q=75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666875" y="356711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rbtx.it</a:t>
            </a:r>
            <a:endParaRPr/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909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1666875" y="40981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https://modernfarmer.com/wp-content/uploads/2020/02/0-1.jpg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666875" y="43314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modernfarmer.com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A4E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